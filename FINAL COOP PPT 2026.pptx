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6"/>
  </p:notesMasterIdLst>
  <p:handoutMasterIdLst>
    <p:handoutMasterId r:id="rId27"/>
  </p:handoutMasterIdLst>
  <p:sldIdLst>
    <p:sldId id="256" r:id="rId5"/>
    <p:sldId id="257" r:id="rId6"/>
    <p:sldId id="269" r:id="rId7"/>
    <p:sldId id="270" r:id="rId8"/>
    <p:sldId id="271" r:id="rId9"/>
    <p:sldId id="273" r:id="rId10"/>
    <p:sldId id="274" r:id="rId11"/>
    <p:sldId id="275" r:id="rId12"/>
    <p:sldId id="276" r:id="rId13"/>
    <p:sldId id="277" r:id="rId14"/>
    <p:sldId id="278" r:id="rId15"/>
    <p:sldId id="279" r:id="rId16"/>
    <p:sldId id="280" r:id="rId17"/>
    <p:sldId id="286" r:id="rId18"/>
    <p:sldId id="287" r:id="rId19"/>
    <p:sldId id="281" r:id="rId20"/>
    <p:sldId id="282" r:id="rId21"/>
    <p:sldId id="283" r:id="rId22"/>
    <p:sldId id="284" r:id="rId23"/>
    <p:sldId id="285" r:id="rId24"/>
    <p:sldId id="268" r:id="rId2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400" y="2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5/20/2026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5/20/2026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r>
              <a:rPr lang="en-IN" sz="3200" dirty="0">
                <a:latin typeface="Times New Roman" panose="02020603050405020304" pitchFamily="18" charset="0"/>
                <a:cs typeface="Times New Roman" panose="02020603050405020304" pitchFamily="18" charset="0"/>
              </a:rPr>
              <a:t>Phishing URL Detection Using Random Forests</a:t>
            </a:r>
          </a:p>
          <a:p>
            <a:pPr algn="ctr"/>
            <a:r>
              <a:rPr lang="en-IN" sz="3200" dirty="0">
                <a:latin typeface="Times New Roman" panose="02020603050405020304" pitchFamily="18" charset="0"/>
                <a:cs typeface="Times New Roman" panose="02020603050405020304" pitchFamily="18" charset="0"/>
              </a:rPr>
              <a:t>Algorithm</a:t>
            </a:r>
            <a:endParaRPr lang="en-US" sz="32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Jasmeet Singh (2210990449)</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Tamanna (2210990885)</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Tanishpreet Kaur (2210990895)</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Ronit Sachdeva (2210992184)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&lt;Name of the Mentor/Team Lead/Manager&gt;</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IN" dirty="0"/>
              <a:t>Phishing attacks are among the most widespread and dangerous cybersecurity threats in the modern digital world. These attacks exploit human psychology, trust, and lack of awareness in online communications. In a phishing attack, cybercriminals impersonate trusted organizations such as banks, e-commerce platforms, government agencies, or reputable companies to manipulate users into revealing confidential information. Such sensitive information may include usernames, passwords, banking credentials, credit card details, and personal identification data. Attackers commonly use deceptive emails, fake websites, SMS messages, or social media communications that closely resemble legitimate platforms, making it difficult for users to distinguish between authentic and malicious sources.</a:t>
            </a:r>
          </a:p>
          <a:p>
            <a:r>
              <a:rPr lang="en-IN" dirty="0"/>
              <a:t> </a:t>
            </a:r>
          </a:p>
          <a:p>
            <a:r>
              <a:rPr lang="en-IN" dirty="0"/>
              <a:t>The impact of phishing attacks can be extremely severe for both individuals and organizations. Victims may suffer financial losses, identity theft, unauthorized account access, and exposure of confidential information. For businesses, phishing attacks can result in data breaches, operational disruptions, reputational damage, and legal consequences. As technology evolves, phishing techniques are becoming increasingly sophisticated, utilizing advanced social engineering tactics, fake SSL certificates, URL obfuscation, and realistic website cloning. These evolving strategies make phishing detection and prevention more challenging than ever before.</a:t>
            </a:r>
          </a:p>
          <a:p>
            <a:pPr>
              <a:lnSpc>
                <a:spcPct val="150000"/>
              </a:lnSpc>
              <a:spcBef>
                <a:spcPts val="400"/>
              </a:spcBef>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FC49-E83C-768F-0350-CFD3770DA01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34AE706-8B73-6474-F56D-8B29C11336F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6EF9AF5-382E-0E11-C5EE-8EC06C0EEEA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7C8F6128-C965-B862-7C8B-3690CD6B0BF5}"/>
              </a:ext>
            </a:extLst>
          </p:cNvPr>
          <p:cNvSpPr txBox="1"/>
          <p:nvPr/>
        </p:nvSpPr>
        <p:spPr>
          <a:xfrm>
            <a:off x="164008" y="1109742"/>
            <a:ext cx="8838720" cy="4838571"/>
          </a:xfrm>
          <a:prstGeom prst="rect">
            <a:avLst/>
          </a:prstGeom>
          <a:noFill/>
          <a:ln w="9360">
            <a:noFill/>
          </a:ln>
        </p:spPr>
        <p:txBody>
          <a:bodyPr>
            <a:noAutofit/>
          </a:bodyPr>
          <a:lstStyle/>
          <a:p>
            <a:r>
              <a:rPr lang="en-IN" dirty="0"/>
              <a:t>To address this growing cybersecurity issue, detecting phishing URLs has become an essential security requirement. This project utilizes the </a:t>
            </a:r>
            <a:r>
              <a:rPr lang="en-IN" dirty="0" err="1"/>
              <a:t>RandomForest</a:t>
            </a:r>
            <a:r>
              <a:rPr lang="en-IN" dirty="0"/>
              <a:t> classifier, a powerful and efficient machine learning algorithm capable of </a:t>
            </a:r>
            <a:r>
              <a:rPr lang="en-IN" dirty="0" err="1"/>
              <a:t>analyzing</a:t>
            </a:r>
            <a:r>
              <a:rPr lang="en-IN" dirty="0"/>
              <a:t> a diverse set of URL-based and website-related features. The extracted features include URL structure analysis, domain-related characteristics, SSL certificate validation, suspicious webpage </a:t>
            </a:r>
            <a:r>
              <a:rPr lang="en-IN" dirty="0" err="1"/>
              <a:t>behaviors</a:t>
            </a:r>
            <a:r>
              <a:rPr lang="en-IN" dirty="0"/>
              <a:t>, redirection patterns, and abnormal webpage attributes. The </a:t>
            </a:r>
            <a:r>
              <a:rPr lang="en-IN" dirty="0" err="1"/>
              <a:t>RandomForest</a:t>
            </a:r>
            <a:r>
              <a:rPr lang="en-IN" dirty="0"/>
              <a:t> algorithm operates through an ensemble of multiple decision trees, where each tree independently evaluates the input features and contributes to the final prediction. This ensemble voting mechanism improves classification accuracy and enhances resistance against overfitting, making the model highly reliable for phishing detection tasks.</a:t>
            </a:r>
          </a:p>
          <a:p>
            <a:r>
              <a:rPr lang="en-IN" dirty="0"/>
              <a:t> </a:t>
            </a:r>
          </a:p>
          <a:p>
            <a:r>
              <a:rPr lang="en-IN" dirty="0"/>
              <a:t>By integrating detailed feature extraction techniques with advanced machine learning methodologies, this project aims to strengthen online security by accurately identifying and mitigating phishing threats. The proposed system provides an intelligent and automated mechanism for detecting malicious URLs before users interact with them. Future improvements to the system may include the integration of real-time URL verification APIs, enhanced feature engineering techniques, deep learning-based detection methods, and browser extensions that provide instant phishing alerts for seamless user protection against emerging cyber threats.</a:t>
            </a:r>
          </a:p>
        </p:txBody>
      </p:sp>
    </p:spTree>
    <p:extLst>
      <p:ext uri="{BB962C8B-B14F-4D97-AF65-F5344CB8AC3E}">
        <p14:creationId xmlns:p14="http://schemas.microsoft.com/office/powerpoint/2010/main" val="2647144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18EDA-58AA-76A8-740C-A608ADB6021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74F02AE-79D9-2B0E-73F1-C6B25815DDD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Literature Survey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A370610-4EDC-9890-FBA8-80A8EC51B49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F5092D0C-12F3-5D3C-7ABB-FEFA1262362A}"/>
              </a:ext>
            </a:extLst>
          </p:cNvPr>
          <p:cNvSpPr txBox="1"/>
          <p:nvPr/>
        </p:nvSpPr>
        <p:spPr>
          <a:xfrm>
            <a:off x="152640" y="1360114"/>
            <a:ext cx="4604417" cy="4838571"/>
          </a:xfrm>
          <a:prstGeom prst="rect">
            <a:avLst/>
          </a:prstGeom>
          <a:noFill/>
          <a:ln w="9360">
            <a:noFill/>
          </a:ln>
        </p:spPr>
        <p:txBody>
          <a:bodyPr>
            <a:noAutofit/>
          </a:bodyPr>
          <a:lstStyle/>
          <a:p>
            <a:r>
              <a:rPr lang="en-IN" dirty="0"/>
              <a:t>Phishing has emerged as a major cybersecurity challenge in the digital era, where attackers create fraudulent websites and deceptive communications to trick users into sharing sensitive information. Due to the increasing number and complexity of phishing attacks, researchers have explored various machine learning and data mining techniques to improve phishing website detection systems. This literature survey examines different methodologies, detection approaches, feature selection techniques, and experimental findings proposed by researchers in the field of phishing detection.</a:t>
            </a:r>
          </a:p>
        </p:txBody>
      </p:sp>
      <p:pic>
        <p:nvPicPr>
          <p:cNvPr id="3" name="Picture 2">
            <a:extLst>
              <a:ext uri="{FF2B5EF4-FFF2-40B4-BE49-F238E27FC236}">
                <a16:creationId xmlns:a16="http://schemas.microsoft.com/office/drawing/2014/main" id="{5AB9385E-AAEF-4B6F-08C0-9948341B4274}"/>
              </a:ext>
            </a:extLst>
          </p:cNvPr>
          <p:cNvPicPr>
            <a:picLocks noChangeAspect="1"/>
          </p:cNvPicPr>
          <p:nvPr/>
        </p:nvPicPr>
        <p:blipFill>
          <a:blip r:embed="rId2"/>
          <a:stretch>
            <a:fillRect/>
          </a:stretch>
        </p:blipFill>
        <p:spPr>
          <a:xfrm>
            <a:off x="4798480" y="1398642"/>
            <a:ext cx="4098940" cy="4208330"/>
          </a:xfrm>
          <a:prstGeom prst="rect">
            <a:avLst/>
          </a:prstGeom>
        </p:spPr>
      </p:pic>
    </p:spTree>
    <p:extLst>
      <p:ext uri="{BB962C8B-B14F-4D97-AF65-F5344CB8AC3E}">
        <p14:creationId xmlns:p14="http://schemas.microsoft.com/office/powerpoint/2010/main" val="271092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0BC6-A435-6614-EE73-77479377951D}"/>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097DCD0-AF70-9A0D-8EE7-A2AEF5A45AF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Literature Survey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D36C34F-F9BE-E526-FEB7-2E718A84BE2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783C8F6F-760A-F58E-C9B0-4C6AA3CFD6AC}"/>
              </a:ext>
            </a:extLst>
          </p:cNvPr>
          <p:cNvSpPr txBox="1"/>
          <p:nvPr/>
        </p:nvSpPr>
        <p:spPr>
          <a:xfrm>
            <a:off x="164008" y="1109742"/>
            <a:ext cx="8903792" cy="4838571"/>
          </a:xfrm>
          <a:prstGeom prst="rect">
            <a:avLst/>
          </a:prstGeom>
          <a:noFill/>
          <a:ln w="9360">
            <a:noFill/>
          </a:ln>
        </p:spPr>
        <p:txBody>
          <a:bodyPr>
            <a:noAutofit/>
          </a:bodyPr>
          <a:lstStyle/>
          <a:p>
            <a:r>
              <a:rPr lang="en-IN" b="1" dirty="0"/>
              <a:t>Detection Techniques:</a:t>
            </a:r>
            <a:endParaRPr lang="en-IN" dirty="0"/>
          </a:p>
          <a:p>
            <a:r>
              <a:rPr lang="en-IN" dirty="0"/>
              <a:t> </a:t>
            </a:r>
          </a:p>
          <a:p>
            <a:pPr lvl="0"/>
            <a:r>
              <a:rPr lang="en-IN" dirty="0"/>
              <a:t>Domain-based Features:</a:t>
            </a:r>
          </a:p>
          <a:p>
            <a:r>
              <a:rPr lang="en-IN" dirty="0"/>
              <a:t>Hossein Shirazi proposed an unbiased phishing detection mechanism using domain name–based characteristics such as domain age, registration details, and domain structure analysis [3].</a:t>
            </a:r>
          </a:p>
          <a:p>
            <a:r>
              <a:rPr lang="en-IN" dirty="0"/>
              <a:t> </a:t>
            </a:r>
          </a:p>
          <a:p>
            <a:pPr lvl="0"/>
            <a:r>
              <a:rPr lang="en-IN" dirty="0"/>
              <a:t>Hybrid SVM and KNN:</a:t>
            </a:r>
          </a:p>
          <a:p>
            <a:r>
              <a:rPr lang="en-IN" dirty="0"/>
              <a:t> </a:t>
            </a:r>
            <a:r>
              <a:rPr lang="en-IN" dirty="0" err="1"/>
              <a:t>Altyeb</a:t>
            </a:r>
            <a:r>
              <a:rPr lang="en-IN" dirty="0"/>
              <a:t> Altaher introduced a hybrid classification model that combines Support Vector Machine (SVM) and K-Nearest </a:t>
            </a:r>
            <a:r>
              <a:rPr lang="en-IN" dirty="0" err="1"/>
              <a:t>Neighbor</a:t>
            </a:r>
            <a:r>
              <a:rPr lang="en-IN" dirty="0"/>
              <a:t> (KNN) algorithms to improve phishing website classification accuracy [4].</a:t>
            </a:r>
          </a:p>
          <a:p>
            <a:r>
              <a:rPr lang="en-IN" dirty="0"/>
              <a:t> </a:t>
            </a:r>
          </a:p>
          <a:p>
            <a:pPr lvl="0"/>
            <a:r>
              <a:rPr lang="en-IN" dirty="0"/>
              <a:t>Content Consistency:</a:t>
            </a:r>
          </a:p>
          <a:p>
            <a:r>
              <a:rPr lang="en-IN" dirty="0"/>
              <a:t> Chen et al. developed a phishing detection approach based on </a:t>
            </a:r>
            <a:r>
              <a:rPr lang="en-IN" dirty="0" err="1"/>
              <a:t>analyzing</a:t>
            </a:r>
            <a:r>
              <a:rPr lang="en-IN" dirty="0"/>
              <a:t> the consistency between webpage content and domain information to identify fraudulent websites [5].</a:t>
            </a:r>
          </a:p>
          <a:p>
            <a:r>
              <a:rPr lang="en-IN" dirty="0"/>
              <a:t> </a:t>
            </a:r>
          </a:p>
        </p:txBody>
      </p:sp>
    </p:spTree>
    <p:extLst>
      <p:ext uri="{BB962C8B-B14F-4D97-AF65-F5344CB8AC3E}">
        <p14:creationId xmlns:p14="http://schemas.microsoft.com/office/powerpoint/2010/main" val="218056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8CEF9-0F7B-0BFF-DBBA-BE54898CA0D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CD0BA11-682E-DB08-164A-5C0B3F2926E4}"/>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Literature Survey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F115C0B-9CAB-937A-6A82-EB7E0751D03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FB4450B2-D76A-A066-B7D3-49799A650575}"/>
              </a:ext>
            </a:extLst>
          </p:cNvPr>
          <p:cNvSpPr txBox="1"/>
          <p:nvPr/>
        </p:nvSpPr>
        <p:spPr>
          <a:xfrm>
            <a:off x="164008" y="1109742"/>
            <a:ext cx="8903792" cy="5486267"/>
          </a:xfrm>
          <a:prstGeom prst="rect">
            <a:avLst/>
          </a:prstGeom>
          <a:noFill/>
          <a:ln w="9360">
            <a:noFill/>
          </a:ln>
        </p:spPr>
        <p:txBody>
          <a:bodyPr>
            <a:noAutofit/>
          </a:bodyPr>
          <a:lstStyle/>
          <a:p>
            <a:pPr lvl="0"/>
            <a:r>
              <a:rPr lang="en-IN" dirty="0"/>
              <a:t>Associative Classification:</a:t>
            </a:r>
          </a:p>
          <a:p>
            <a:r>
              <a:rPr lang="en-IN" dirty="0"/>
              <a:t>Abdelhamid et al. employed associative classification and data mining techniques to discover phishing-related rules and patterns for improved detection performance [6].</a:t>
            </a:r>
          </a:p>
          <a:p>
            <a:r>
              <a:rPr lang="en-IN" dirty="0"/>
              <a:t> </a:t>
            </a:r>
          </a:p>
          <a:p>
            <a:pPr lvl="0"/>
            <a:r>
              <a:rPr lang="en-IN" dirty="0"/>
              <a:t>Rule-Based Methods:</a:t>
            </a:r>
          </a:p>
          <a:p>
            <a:r>
              <a:rPr lang="en-IN" dirty="0"/>
              <a:t>Moghimi and </a:t>
            </a:r>
            <a:r>
              <a:rPr lang="en-IN" dirty="0" err="1"/>
              <a:t>Varjani</a:t>
            </a:r>
            <a:r>
              <a:rPr lang="en-IN" dirty="0"/>
              <a:t> proposed a rule-based phishing detection framework that uses predefined rules and heuristic indicators to identify suspicious websites [7].</a:t>
            </a:r>
          </a:p>
          <a:p>
            <a:r>
              <a:rPr lang="en-IN" dirty="0"/>
              <a:t> </a:t>
            </a:r>
          </a:p>
          <a:p>
            <a:pPr lvl="0"/>
            <a:r>
              <a:rPr lang="en-IN" dirty="0"/>
              <a:t>Fuzzy Data Mining:</a:t>
            </a:r>
          </a:p>
          <a:p>
            <a:r>
              <a:rPr lang="en-IN" dirty="0" err="1"/>
              <a:t>Aburrous</a:t>
            </a:r>
            <a:r>
              <a:rPr lang="en-IN" dirty="0"/>
              <a:t> et al. utilized fuzzy logic and fuzzy data mining techniques to handle uncertain and ambiguous phishing data, especially in e-banking environments [8].</a:t>
            </a:r>
          </a:p>
          <a:p>
            <a:r>
              <a:rPr lang="en-IN" dirty="0"/>
              <a:t> </a:t>
            </a:r>
          </a:p>
          <a:p>
            <a:pPr lvl="0"/>
            <a:r>
              <a:rPr lang="en-IN" dirty="0"/>
              <a:t>Heuristic Approaches:</a:t>
            </a:r>
          </a:p>
          <a:p>
            <a:r>
              <a:rPr lang="en-IN" dirty="0"/>
              <a:t>Solanki et al. and Lee et al. proposed heuristic-based phishing detection systems that </a:t>
            </a:r>
            <a:r>
              <a:rPr lang="en-IN" dirty="0" err="1"/>
              <a:t>analyze</a:t>
            </a:r>
            <a:r>
              <a:rPr lang="en-IN" dirty="0"/>
              <a:t> suspicious URL patterns and webpage characteristics [10], [11].</a:t>
            </a:r>
          </a:p>
          <a:p>
            <a:r>
              <a:rPr lang="en-IN" dirty="0"/>
              <a:t> </a:t>
            </a:r>
          </a:p>
          <a:p>
            <a:pPr lvl="0"/>
            <a:r>
              <a:rPr lang="en-IN" dirty="0"/>
              <a:t>Logo Utilization:</a:t>
            </a:r>
          </a:p>
          <a:p>
            <a:r>
              <a:rPr lang="en-IN" dirty="0"/>
              <a:t>Chiew et al. introduced a phishing detection mechanism that uses website logos and visual similarity analysis to verify website authenticity [9].</a:t>
            </a:r>
          </a:p>
          <a:p>
            <a:r>
              <a:rPr lang="en-IN" dirty="0"/>
              <a:t> </a:t>
            </a:r>
          </a:p>
        </p:txBody>
      </p:sp>
    </p:spTree>
    <p:extLst>
      <p:ext uri="{BB962C8B-B14F-4D97-AF65-F5344CB8AC3E}">
        <p14:creationId xmlns:p14="http://schemas.microsoft.com/office/powerpoint/2010/main" val="386934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D5B2-A6C2-DA32-806C-B02F2E716531}"/>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2468832-1B3B-2D36-D322-B5A0579478AA}"/>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Literature Survey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7428B28-2706-69D7-0EDE-09804B19F9E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EB1B48C1-0B82-A246-556E-6DD057DE1DD9}"/>
              </a:ext>
            </a:extLst>
          </p:cNvPr>
          <p:cNvSpPr txBox="1"/>
          <p:nvPr/>
        </p:nvSpPr>
        <p:spPr>
          <a:xfrm>
            <a:off x="164008" y="1109742"/>
            <a:ext cx="8903792" cy="4838571"/>
          </a:xfrm>
          <a:prstGeom prst="rect">
            <a:avLst/>
          </a:prstGeom>
          <a:noFill/>
          <a:ln w="9360">
            <a:noFill/>
          </a:ln>
        </p:spPr>
        <p:txBody>
          <a:bodyPr>
            <a:noAutofit/>
          </a:bodyPr>
          <a:lstStyle/>
          <a:p>
            <a:r>
              <a:rPr lang="en-IN" b="1" dirty="0"/>
              <a:t>Machine Learning Techniques:</a:t>
            </a:r>
            <a:endParaRPr lang="en-IN" dirty="0"/>
          </a:p>
          <a:p>
            <a:r>
              <a:rPr lang="en-IN" dirty="0"/>
              <a:t> </a:t>
            </a:r>
          </a:p>
          <a:p>
            <a:pPr lvl="0"/>
            <a:r>
              <a:rPr lang="en-IN" dirty="0"/>
              <a:t>URL Analysis:</a:t>
            </a:r>
          </a:p>
          <a:p>
            <a:r>
              <a:rPr lang="en-IN" dirty="0"/>
              <a:t>  Basnet and </a:t>
            </a:r>
            <a:r>
              <a:rPr lang="en-IN" dirty="0" err="1"/>
              <a:t>Doleck</a:t>
            </a:r>
            <a:r>
              <a:rPr lang="en-IN" dirty="0"/>
              <a:t> implemented machine learning approaches for detecting phishing URLs by </a:t>
            </a:r>
            <a:r>
              <a:rPr lang="en-IN" dirty="0" err="1"/>
              <a:t>analyzing</a:t>
            </a:r>
            <a:r>
              <a:rPr lang="en-IN" dirty="0"/>
              <a:t> URL-based features and suspicious structures [12].</a:t>
            </a:r>
          </a:p>
          <a:p>
            <a:r>
              <a:rPr lang="en-IN" dirty="0"/>
              <a:t> </a:t>
            </a:r>
          </a:p>
          <a:p>
            <a:pPr lvl="0"/>
            <a:r>
              <a:rPr lang="en-IN" dirty="0"/>
              <a:t>Efficiency-Oriented Detection:</a:t>
            </a:r>
          </a:p>
          <a:p>
            <a:r>
              <a:rPr lang="en-IN" dirty="0"/>
              <a:t>  Gu et al. proposed an efficient phishing website detection framework designed to improve computational performance while maintaining detection accuracy [13].</a:t>
            </a:r>
          </a:p>
          <a:p>
            <a:r>
              <a:rPr lang="en-IN" dirty="0"/>
              <a:t> </a:t>
            </a:r>
          </a:p>
          <a:p>
            <a:pPr lvl="0"/>
            <a:r>
              <a:rPr lang="en-IN" dirty="0"/>
              <a:t>Ensemble Feature Selection:</a:t>
            </a:r>
          </a:p>
          <a:p>
            <a:r>
              <a:rPr lang="en-IN" dirty="0"/>
              <a:t>  Chiew et al. developed a hybrid ensemble feature selection framework that enhances machine learning performance in phishing detection systems [14].</a:t>
            </a:r>
          </a:p>
          <a:p>
            <a:r>
              <a:rPr lang="en-IN" dirty="0"/>
              <a:t> </a:t>
            </a:r>
          </a:p>
          <a:p>
            <a:pPr lvl="0"/>
            <a:r>
              <a:rPr lang="en-IN" dirty="0"/>
              <a:t>Feature Selection Using Fuzzy Rough Set Theory:</a:t>
            </a:r>
          </a:p>
          <a:p>
            <a:r>
              <a:rPr lang="en-IN" dirty="0"/>
              <a:t>  </a:t>
            </a:r>
            <a:r>
              <a:rPr lang="en-IN" dirty="0" err="1"/>
              <a:t>Zabihimayvan</a:t>
            </a:r>
            <a:r>
              <a:rPr lang="en-IN" dirty="0"/>
              <a:t> and Doran applied fuzzy rough set theory to select the most relevant features, thereby improving phishing attack detection efficiency and accuracy [15].</a:t>
            </a:r>
          </a:p>
        </p:txBody>
      </p:sp>
    </p:spTree>
    <p:extLst>
      <p:ext uri="{BB962C8B-B14F-4D97-AF65-F5344CB8AC3E}">
        <p14:creationId xmlns:p14="http://schemas.microsoft.com/office/powerpoint/2010/main" val="158583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78E3-6327-F13D-E6AA-581760A0F92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AE94AC0-5AB2-916E-9F84-C48253EC17E4}"/>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Literature Survey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33F7F9A-3B13-0F39-AF13-EA71FD1B5D9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71F819F5-4684-D03E-22F9-83CA9F02AA01}"/>
              </a:ext>
            </a:extLst>
          </p:cNvPr>
          <p:cNvSpPr txBox="1"/>
          <p:nvPr/>
        </p:nvSpPr>
        <p:spPr>
          <a:xfrm>
            <a:off x="164008" y="1109742"/>
            <a:ext cx="8903792" cy="4838571"/>
          </a:xfrm>
          <a:prstGeom prst="rect">
            <a:avLst/>
          </a:prstGeom>
          <a:noFill/>
          <a:ln w="9360">
            <a:noFill/>
          </a:ln>
        </p:spPr>
        <p:txBody>
          <a:bodyPr>
            <a:noAutofit/>
          </a:bodyPr>
          <a:lstStyle/>
          <a:p>
            <a:r>
              <a:rPr lang="en-IN" b="1" dirty="0"/>
              <a:t>Experimental Findings:</a:t>
            </a:r>
            <a:endParaRPr lang="en-IN" dirty="0"/>
          </a:p>
          <a:p>
            <a:r>
              <a:rPr lang="en-IN" dirty="0"/>
              <a:t> </a:t>
            </a:r>
          </a:p>
          <a:p>
            <a:pPr lvl="0"/>
            <a:r>
              <a:rPr lang="en-IN" dirty="0"/>
              <a:t> Several studies evaluated machine learning algorithms such as J48, Random Forest, and Multi-Layer Perceptron (MLP) classifiers using feature selection methods including </a:t>
            </a:r>
            <a:r>
              <a:rPr lang="en-IN" dirty="0" err="1"/>
              <a:t>InfoGain</a:t>
            </a:r>
            <a:r>
              <a:rPr lang="en-IN" dirty="0"/>
              <a:t> and </a:t>
            </a:r>
            <a:r>
              <a:rPr lang="en-IN" dirty="0" err="1"/>
              <a:t>ReliefF</a:t>
            </a:r>
            <a:r>
              <a:rPr lang="en-IN" dirty="0"/>
              <a:t> [17].</a:t>
            </a:r>
          </a:p>
          <a:p>
            <a:pPr lvl="0"/>
            <a:r>
              <a:rPr lang="en-IN" dirty="0"/>
              <a:t> Experimental results from these studies demonstrated that effective feature selection significantly improves classification accuracy while reducing computational complexity [18].</a:t>
            </a:r>
          </a:p>
          <a:p>
            <a:pPr lvl="0"/>
            <a:endParaRPr lang="en-IN" dirty="0"/>
          </a:p>
          <a:p>
            <a:pPr lvl="0"/>
            <a:r>
              <a:rPr lang="en-IN" dirty="0"/>
              <a:t>Research findings also showed that reducing feature sets from 48 features to approximately 20 optimized features can improve model efficiency without significantly affecting detection accuracy [22].</a:t>
            </a:r>
          </a:p>
          <a:p>
            <a:r>
              <a:rPr lang="en-IN" dirty="0"/>
              <a:t> </a:t>
            </a:r>
          </a:p>
          <a:p>
            <a:r>
              <a:rPr lang="en-IN" dirty="0"/>
              <a:t>The reviewed literature clearly demonstrates that machine learning–based phishing detection systems are highly effective in combating phishing attacks. The combination of feature engineering, intelligent classification models, and optimized feature selection methods continues to improve phishing detection performance and adaptability against evolving cyber threats.</a:t>
            </a:r>
          </a:p>
        </p:txBody>
      </p:sp>
    </p:spTree>
    <p:extLst>
      <p:ext uri="{BB962C8B-B14F-4D97-AF65-F5344CB8AC3E}">
        <p14:creationId xmlns:p14="http://schemas.microsoft.com/office/powerpoint/2010/main" val="761793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5A00-8AF6-942E-FB9E-74C1D1DFFC8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C73B8EC-4A74-E376-CCEC-A61785CB46A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Methodology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37990FC-0CE1-9235-5C43-B76C99C6F5A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A940F859-1DB0-F873-A57A-A014554FB4AF}"/>
              </a:ext>
            </a:extLst>
          </p:cNvPr>
          <p:cNvSpPr txBox="1"/>
          <p:nvPr/>
        </p:nvSpPr>
        <p:spPr>
          <a:xfrm>
            <a:off x="164008" y="1109742"/>
            <a:ext cx="8903792" cy="4838571"/>
          </a:xfrm>
          <a:prstGeom prst="rect">
            <a:avLst/>
          </a:prstGeom>
          <a:noFill/>
          <a:ln w="9360">
            <a:noFill/>
          </a:ln>
        </p:spPr>
        <p:txBody>
          <a:bodyPr>
            <a:noAutofit/>
          </a:bodyPr>
          <a:lstStyle/>
          <a:p>
            <a:r>
              <a:rPr lang="en-IN" b="1" dirty="0"/>
              <a:t>Feature Extraction Process:</a:t>
            </a:r>
            <a:endParaRPr lang="en-IN" dirty="0"/>
          </a:p>
          <a:p>
            <a:r>
              <a:rPr lang="en-IN" dirty="0"/>
              <a:t> </a:t>
            </a:r>
          </a:p>
          <a:p>
            <a:r>
              <a:rPr lang="en-IN" dirty="0"/>
              <a:t>When a URL is provided as input to the system, it undergoes a detailed feature extraction process to </a:t>
            </a:r>
            <a:r>
              <a:rPr lang="en-IN" dirty="0" err="1"/>
              <a:t>analyze</a:t>
            </a:r>
            <a:r>
              <a:rPr lang="en-IN" dirty="0"/>
              <a:t> multiple characteristics associated with phishing </a:t>
            </a:r>
            <a:r>
              <a:rPr lang="en-IN" dirty="0" err="1"/>
              <a:t>behavior</a:t>
            </a:r>
            <a:r>
              <a:rPr lang="en-IN" dirty="0"/>
              <a:t>. These extracted features help the machine learning model differentiate between legitimate and malicious websites. The feature extraction process includes the following categories:</a:t>
            </a:r>
          </a:p>
          <a:p>
            <a:r>
              <a:rPr lang="en-IN" dirty="0"/>
              <a:t> </a:t>
            </a:r>
          </a:p>
          <a:p>
            <a:pPr lvl="0"/>
            <a:r>
              <a:rPr lang="en-IN" dirty="0"/>
              <a:t>URL Type:</a:t>
            </a:r>
          </a:p>
          <a:p>
            <a:r>
              <a:rPr lang="en-IN" dirty="0"/>
              <a:t>  The system checks whether the URL contains an IP address instead of a domain name, evaluates the URL length, and determines whether the URL has been shortened using URL shortening services. These characteristics are commonly associated with phishing websites.</a:t>
            </a:r>
          </a:p>
          <a:p>
            <a:r>
              <a:rPr lang="en-IN" dirty="0"/>
              <a:t> </a:t>
            </a:r>
          </a:p>
          <a:p>
            <a:pPr lvl="0"/>
            <a:r>
              <a:rPr lang="en-IN" dirty="0"/>
              <a:t>Special Characters:</a:t>
            </a:r>
          </a:p>
          <a:p>
            <a:r>
              <a:rPr lang="en-IN" dirty="0"/>
              <a:t>  The presence of suspicious symbols such as the “@” character and double slashes (“//”) in the URL path is </a:t>
            </a:r>
            <a:r>
              <a:rPr lang="en-IN" dirty="0" err="1"/>
              <a:t>analyzed</a:t>
            </a:r>
            <a:r>
              <a:rPr lang="en-IN" dirty="0"/>
              <a:t> because attackers frequently use these patterns to mislead users.</a:t>
            </a:r>
          </a:p>
        </p:txBody>
      </p:sp>
    </p:spTree>
    <p:extLst>
      <p:ext uri="{BB962C8B-B14F-4D97-AF65-F5344CB8AC3E}">
        <p14:creationId xmlns:p14="http://schemas.microsoft.com/office/powerpoint/2010/main" val="1060561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406A-9A4D-B46F-557D-DD558AB4047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54C7E7B-08B2-5F73-4F21-D6575378008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Methodology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CC63E051-3D3A-B46E-042B-08F5C91EF53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33F4BF29-31DD-743A-057B-D3E4AEAAA8A2}"/>
              </a:ext>
            </a:extLst>
          </p:cNvPr>
          <p:cNvSpPr txBox="1"/>
          <p:nvPr/>
        </p:nvSpPr>
        <p:spPr>
          <a:xfrm>
            <a:off x="164008" y="1109742"/>
            <a:ext cx="8903792" cy="4838571"/>
          </a:xfrm>
          <a:prstGeom prst="rect">
            <a:avLst/>
          </a:prstGeom>
          <a:noFill/>
          <a:ln w="9360">
            <a:noFill/>
          </a:ln>
        </p:spPr>
        <p:txBody>
          <a:bodyPr>
            <a:noAutofit/>
          </a:bodyPr>
          <a:lstStyle/>
          <a:p>
            <a:pPr lvl="0"/>
            <a:r>
              <a:rPr lang="en-IN" dirty="0"/>
              <a:t>Domain Analysis:</a:t>
            </a:r>
          </a:p>
          <a:p>
            <a:r>
              <a:rPr lang="en-IN" dirty="0"/>
              <a:t>  The system examines domain-related properties including prefix and suffix usage, the number of subdomains, SSL certificate validity, and domain registration duration. Fraudulent websites often have recently registered domains and invalid SSL certificates.</a:t>
            </a:r>
          </a:p>
          <a:p>
            <a:r>
              <a:rPr lang="en-IN" dirty="0"/>
              <a:t> </a:t>
            </a:r>
          </a:p>
          <a:p>
            <a:pPr lvl="0"/>
            <a:r>
              <a:rPr lang="en-IN" dirty="0"/>
              <a:t>Web Page Attributes:</a:t>
            </a:r>
          </a:p>
          <a:p>
            <a:r>
              <a:rPr lang="en-IN" dirty="0"/>
              <a:t>  Features such as favicon consistency, unusual port numbers, and the presence of “https” tokens within suspicious sections of the URL are </a:t>
            </a:r>
            <a:r>
              <a:rPr lang="en-IN" dirty="0" err="1"/>
              <a:t>analyzed</a:t>
            </a:r>
            <a:r>
              <a:rPr lang="en-IN" dirty="0"/>
              <a:t> to identify deceptive </a:t>
            </a:r>
            <a:r>
              <a:rPr lang="en-IN" dirty="0" err="1"/>
              <a:t>behavior</a:t>
            </a:r>
            <a:r>
              <a:rPr lang="en-IN" dirty="0"/>
              <a:t>.</a:t>
            </a:r>
          </a:p>
          <a:p>
            <a:r>
              <a:rPr lang="en-IN" dirty="0"/>
              <a:t> </a:t>
            </a:r>
          </a:p>
          <a:p>
            <a:pPr lvl="0"/>
            <a:r>
              <a:rPr lang="en-IN" dirty="0"/>
              <a:t>Web Page Elements:</a:t>
            </a:r>
          </a:p>
          <a:p>
            <a:r>
              <a:rPr lang="en-IN" dirty="0"/>
              <a:t>  The system evaluates webpage components including external object requests, anchor elements, and the number of links within HTML tags to detect abnormal webpage structures commonly found in phishing websites.</a:t>
            </a:r>
          </a:p>
          <a:p>
            <a:r>
              <a:rPr lang="en-IN" dirty="0"/>
              <a:t> </a:t>
            </a:r>
          </a:p>
          <a:p>
            <a:pPr lvl="0"/>
            <a:endParaRPr lang="en-IN" dirty="0"/>
          </a:p>
        </p:txBody>
      </p:sp>
    </p:spTree>
    <p:extLst>
      <p:ext uri="{BB962C8B-B14F-4D97-AF65-F5344CB8AC3E}">
        <p14:creationId xmlns:p14="http://schemas.microsoft.com/office/powerpoint/2010/main" val="1569893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FD7D6-7B4C-26CA-B71D-F74E2C8AAA2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0905861-26AA-4C9E-A883-08F7AF4305D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Methodology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1AAC42D-3842-03B7-5230-ADE64BFA35B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CBE3B71F-19E6-FCBC-E8C8-5F964E2F350C}"/>
              </a:ext>
            </a:extLst>
          </p:cNvPr>
          <p:cNvSpPr txBox="1"/>
          <p:nvPr/>
        </p:nvSpPr>
        <p:spPr>
          <a:xfrm>
            <a:off x="4479154" y="1243306"/>
            <a:ext cx="4407992" cy="5113214"/>
          </a:xfrm>
          <a:prstGeom prst="rect">
            <a:avLst/>
          </a:prstGeom>
          <a:noFill/>
          <a:ln w="9360">
            <a:noFill/>
          </a:ln>
        </p:spPr>
        <p:txBody>
          <a:bodyPr>
            <a:noAutofit/>
          </a:bodyPr>
          <a:lstStyle/>
          <a:p>
            <a:pPr lvl="0"/>
            <a:r>
              <a:rPr lang="en-IN" dirty="0"/>
              <a:t>Security Indicators:</a:t>
            </a:r>
          </a:p>
          <a:p>
            <a:r>
              <a:rPr lang="en-IN" dirty="0"/>
              <a:t>  Various security-related </a:t>
            </a:r>
            <a:r>
              <a:rPr lang="en-IN" dirty="0" err="1"/>
              <a:t>behaviors</a:t>
            </a:r>
            <a:r>
              <a:rPr lang="en-IN" dirty="0"/>
              <a:t> are </a:t>
            </a:r>
            <a:r>
              <a:rPr lang="en-IN" dirty="0" err="1"/>
              <a:t>analyzed</a:t>
            </a:r>
            <a:r>
              <a:rPr lang="en-IN" dirty="0"/>
              <a:t>, including suspicious form submission methods, email submission requirements, abnormal redirections, mouse-over effects, right-click disabling mechanisms, popup windows, and </a:t>
            </a:r>
            <a:r>
              <a:rPr lang="en-IN" dirty="0" err="1"/>
              <a:t>iframe</a:t>
            </a:r>
            <a:r>
              <a:rPr lang="en-IN" dirty="0"/>
              <a:t> usage. These indicators are frequently used by attackers to manipulate users.</a:t>
            </a:r>
          </a:p>
          <a:p>
            <a:r>
              <a:rPr lang="en-IN" dirty="0"/>
              <a:t> </a:t>
            </a:r>
          </a:p>
          <a:p>
            <a:pPr lvl="0"/>
            <a:r>
              <a:rPr lang="en-IN" dirty="0"/>
              <a:t>Domain Metrics:</a:t>
            </a:r>
          </a:p>
          <a:p>
            <a:r>
              <a:rPr lang="en-IN" dirty="0"/>
              <a:t>  Additional domain-based metrics such as domain age, DNS record availability, estimated web traffic, Google PageRank, indexing status, external linking </a:t>
            </a:r>
            <a:r>
              <a:rPr lang="en-IN" dirty="0" err="1"/>
              <a:t>behavior</a:t>
            </a:r>
            <a:r>
              <a:rPr lang="en-IN" dirty="0"/>
              <a:t>, and statistical properties are included in the feature set to improve detection performance.</a:t>
            </a:r>
          </a:p>
        </p:txBody>
      </p:sp>
      <p:pic>
        <p:nvPicPr>
          <p:cNvPr id="3" name="Picture 2">
            <a:extLst>
              <a:ext uri="{FF2B5EF4-FFF2-40B4-BE49-F238E27FC236}">
                <a16:creationId xmlns:a16="http://schemas.microsoft.com/office/drawing/2014/main" id="{6B659F3A-C8A3-F081-2FAF-4503F9FC6319}"/>
              </a:ext>
            </a:extLst>
          </p:cNvPr>
          <p:cNvPicPr>
            <a:picLocks noChangeAspect="1"/>
          </p:cNvPicPr>
          <p:nvPr/>
        </p:nvPicPr>
        <p:blipFill>
          <a:blip r:embed="rId2"/>
          <a:stretch>
            <a:fillRect/>
          </a:stretch>
        </p:blipFill>
        <p:spPr>
          <a:xfrm>
            <a:off x="133884" y="1542372"/>
            <a:ext cx="4191215" cy="4515082"/>
          </a:xfrm>
          <a:prstGeom prst="rect">
            <a:avLst/>
          </a:prstGeom>
        </p:spPr>
      </p:pic>
    </p:spTree>
    <p:extLst>
      <p:ext uri="{BB962C8B-B14F-4D97-AF65-F5344CB8AC3E}">
        <p14:creationId xmlns:p14="http://schemas.microsoft.com/office/powerpoint/2010/main" val="2805242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D156-D000-6BC9-3F1F-65916F6CC58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2746295-D6C1-245F-8539-A4EB0864E5D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Methodology</a:t>
            </a:r>
            <a:endParaRPr lang="en-US" sz="320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B431FE5-914C-2A42-3F12-4AB86792966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a:extLst>
              <a:ext uri="{FF2B5EF4-FFF2-40B4-BE49-F238E27FC236}">
                <a16:creationId xmlns:a16="http://schemas.microsoft.com/office/drawing/2014/main" id="{1886DE38-364E-C57D-3B7C-0BAF3501DEEF}"/>
              </a:ext>
            </a:extLst>
          </p:cNvPr>
          <p:cNvSpPr txBox="1"/>
          <p:nvPr/>
        </p:nvSpPr>
        <p:spPr>
          <a:xfrm>
            <a:off x="120104" y="837720"/>
            <a:ext cx="8903792" cy="4838571"/>
          </a:xfrm>
          <a:prstGeom prst="rect">
            <a:avLst/>
          </a:prstGeom>
          <a:noFill/>
          <a:ln w="9360">
            <a:noFill/>
          </a:ln>
        </p:spPr>
        <p:txBody>
          <a:bodyPr>
            <a:noAutofit/>
          </a:bodyPr>
          <a:lstStyle/>
          <a:p>
            <a:r>
              <a:rPr lang="en-IN" b="1" dirty="0"/>
              <a:t>Prediction Using </a:t>
            </a:r>
            <a:r>
              <a:rPr lang="en-IN" b="1" dirty="0" err="1"/>
              <a:t>RandomForest</a:t>
            </a:r>
            <a:r>
              <a:rPr lang="en-IN" b="1" dirty="0"/>
              <a:t>:</a:t>
            </a:r>
            <a:endParaRPr lang="en-IN" dirty="0"/>
          </a:p>
          <a:p>
            <a:r>
              <a:rPr lang="en-IN" dirty="0"/>
              <a:t> </a:t>
            </a:r>
          </a:p>
          <a:p>
            <a:r>
              <a:rPr lang="en-IN" dirty="0"/>
              <a:t>The </a:t>
            </a:r>
            <a:r>
              <a:rPr lang="en-IN" dirty="0" err="1"/>
              <a:t>RandomForest</a:t>
            </a:r>
            <a:r>
              <a:rPr lang="en-IN" dirty="0"/>
              <a:t> classifier implemented in this project is trained using a feature vector containing 32 extracted URL features. </a:t>
            </a:r>
            <a:r>
              <a:rPr lang="en-IN" dirty="0" err="1"/>
              <a:t>RandomForest</a:t>
            </a:r>
            <a:r>
              <a:rPr lang="en-IN" dirty="0"/>
              <a:t> is an ensemble machine learning algorithm that constructs multiple decision trees during the training process. Each decision tree is trained using a randomly selected subset of training samples and feature subsets, enabling the model to capture diverse decision patterns.</a:t>
            </a:r>
          </a:p>
          <a:p>
            <a:r>
              <a:rPr lang="en-IN" dirty="0"/>
              <a:t> </a:t>
            </a:r>
          </a:p>
          <a:p>
            <a:r>
              <a:rPr lang="en-IN" dirty="0"/>
              <a:t>During the prediction phase, every decision tree independently classifies the input URL as either phishing or legitimate. The final classification result is determined through a majority voting mechanism among all decision trees. This ensemble approach significantly improves prediction accuracy, reduces the risk of overfitting, and enhances the model’s ability to generalize across unseen phishing patterns.</a:t>
            </a:r>
          </a:p>
          <a:p>
            <a:r>
              <a:rPr lang="en-IN" dirty="0"/>
              <a:t> </a:t>
            </a:r>
          </a:p>
          <a:p>
            <a:r>
              <a:rPr lang="en-IN" dirty="0"/>
              <a:t>One of the major advantages of </a:t>
            </a:r>
            <a:r>
              <a:rPr lang="en-IN" dirty="0" err="1"/>
              <a:t>RandomForest</a:t>
            </a:r>
            <a:r>
              <a:rPr lang="en-IN" dirty="0"/>
              <a:t> is its capability to identify the importance of different features contributing to phishing detection. This helps in understanding which URL characteristics are most influential in distinguishing malicious websites from legitimate ones. By combining comprehensive feature extraction with the ensemble learning strength of </a:t>
            </a:r>
            <a:r>
              <a:rPr lang="en-IN" dirty="0" err="1"/>
              <a:t>RandomForest</a:t>
            </a:r>
            <a:r>
              <a:rPr lang="en-IN" dirty="0"/>
              <a:t>, this project delivers a reliable and efficient phishing URL detection system capable of enhancing cybersecurity and protecting users from online threats.</a:t>
            </a:r>
          </a:p>
        </p:txBody>
      </p:sp>
    </p:spTree>
    <p:extLst>
      <p:ext uri="{BB962C8B-B14F-4D97-AF65-F5344CB8AC3E}">
        <p14:creationId xmlns:p14="http://schemas.microsoft.com/office/powerpoint/2010/main" val="241221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5C001-0A4C-DC07-4182-B388E3A6507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0148BD4-0B81-B0FB-5B96-DC6618B65437}"/>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110" name="TextShape 3">
            <a:extLst>
              <a:ext uri="{FF2B5EF4-FFF2-40B4-BE49-F238E27FC236}">
                <a16:creationId xmlns:a16="http://schemas.microsoft.com/office/drawing/2014/main" id="{964AB1AF-5109-D6DE-EA94-F26C58F6AE3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a:extLst>
              <a:ext uri="{FF2B5EF4-FFF2-40B4-BE49-F238E27FC236}">
                <a16:creationId xmlns:a16="http://schemas.microsoft.com/office/drawing/2014/main" id="{CE5736DC-34E4-C961-6DAD-6B02EE12BEBF}"/>
              </a:ext>
            </a:extLst>
          </p:cNvPr>
          <p:cNvSpPr txBox="1"/>
          <p:nvPr/>
        </p:nvSpPr>
        <p:spPr>
          <a:xfrm>
            <a:off x="164008" y="1109742"/>
            <a:ext cx="8903792" cy="4838571"/>
          </a:xfrm>
          <a:prstGeom prst="rect">
            <a:avLst/>
          </a:prstGeom>
          <a:noFill/>
          <a:ln w="9360">
            <a:noFill/>
          </a:ln>
        </p:spPr>
        <p:txBody>
          <a:bodyPr>
            <a:noAutofit/>
          </a:bodyPr>
          <a:lstStyle/>
          <a:p>
            <a:r>
              <a:rPr lang="en-IN" b="1" dirty="0"/>
              <a:t>Graphical User Interface (GUI) for URL Classification:</a:t>
            </a:r>
            <a:endParaRPr lang="en-IN" dirty="0"/>
          </a:p>
          <a:p>
            <a:r>
              <a:rPr lang="en-IN" dirty="0"/>
              <a:t> </a:t>
            </a:r>
          </a:p>
          <a:p>
            <a:r>
              <a:rPr lang="en-IN" dirty="0"/>
              <a:t>To improve usability and accessibility, a user-friendly Graphical User Interface (GUI) has been developed as part of this project. The GUI provides an intuitive platform where users can easily enter any URL they wish to verify. Once the URL is submitted, the system automatically processes it through the feature extraction pipeline and applies the trained </a:t>
            </a:r>
            <a:r>
              <a:rPr lang="en-IN" dirty="0" err="1"/>
              <a:t>RandomForest</a:t>
            </a:r>
            <a:r>
              <a:rPr lang="en-IN" dirty="0"/>
              <a:t> classifier to determine whether the URL is legitimate or phishing.</a:t>
            </a:r>
          </a:p>
          <a:p>
            <a:r>
              <a:rPr lang="en-IN" dirty="0"/>
              <a:t> </a:t>
            </a:r>
          </a:p>
          <a:p>
            <a:r>
              <a:rPr lang="en-IN" dirty="0"/>
              <a:t>The interface provides immediate feedback to users, allowing them to quickly understand the security status of the entered URL. This interactive system simplifies the URL verification process and enables users to make informed decisions regarding online safety. The GUI enhances the practical usability of the phishing detection system by offering a seamless and accessible user experience.</a:t>
            </a:r>
          </a:p>
        </p:txBody>
      </p:sp>
    </p:spTree>
    <p:extLst>
      <p:ext uri="{BB962C8B-B14F-4D97-AF65-F5344CB8AC3E}">
        <p14:creationId xmlns:p14="http://schemas.microsoft.com/office/powerpoint/2010/main" val="3557228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D913F9-FC45-2A48-F1C3-97C198D41708}"/>
              </a:ext>
            </a:extLst>
          </p:cNvPr>
          <p:cNvPicPr/>
          <p:nvPr/>
        </p:nvPicPr>
        <p:blipFill>
          <a:blip r:embed="rId2"/>
          <a:stretch>
            <a:fillRect/>
          </a:stretch>
        </p:blipFill>
        <p:spPr>
          <a:xfrm>
            <a:off x="1571625" y="938159"/>
            <a:ext cx="6000750" cy="1714500"/>
          </a:xfrm>
          <a:prstGeom prst="rect">
            <a:avLst/>
          </a:prstGeom>
        </p:spPr>
      </p:pic>
      <p:pic>
        <p:nvPicPr>
          <p:cNvPr id="3" name="Picture 2">
            <a:extLst>
              <a:ext uri="{FF2B5EF4-FFF2-40B4-BE49-F238E27FC236}">
                <a16:creationId xmlns:a16="http://schemas.microsoft.com/office/drawing/2014/main" id="{244AD044-9A28-4DF2-4D0B-26BCE0581CFB}"/>
              </a:ext>
            </a:extLst>
          </p:cNvPr>
          <p:cNvPicPr/>
          <p:nvPr/>
        </p:nvPicPr>
        <p:blipFill>
          <a:blip r:embed="rId3"/>
          <a:stretch>
            <a:fillRect/>
          </a:stretch>
        </p:blipFill>
        <p:spPr>
          <a:xfrm>
            <a:off x="1571625" y="2755400"/>
            <a:ext cx="6000750" cy="1752600"/>
          </a:xfrm>
          <a:prstGeom prst="rect">
            <a:avLst/>
          </a:prstGeom>
        </p:spPr>
      </p:pic>
      <p:pic>
        <p:nvPicPr>
          <p:cNvPr id="4" name="Picture 3">
            <a:extLst>
              <a:ext uri="{FF2B5EF4-FFF2-40B4-BE49-F238E27FC236}">
                <a16:creationId xmlns:a16="http://schemas.microsoft.com/office/drawing/2014/main" id="{059D50E4-5603-570E-D4FD-C3D0AD69B077}"/>
              </a:ext>
            </a:extLst>
          </p:cNvPr>
          <p:cNvPicPr/>
          <p:nvPr/>
        </p:nvPicPr>
        <p:blipFill>
          <a:blip r:embed="rId4"/>
          <a:stretch>
            <a:fillRect/>
          </a:stretch>
        </p:blipFill>
        <p:spPr>
          <a:xfrm>
            <a:off x="1571625" y="4610741"/>
            <a:ext cx="6019165" cy="1805940"/>
          </a:xfrm>
          <a:prstGeom prst="rect">
            <a:avLst/>
          </a:prstGeom>
        </p:spPr>
      </p:pic>
    </p:spTree>
    <p:extLst>
      <p:ext uri="{BB962C8B-B14F-4D97-AF65-F5344CB8AC3E}">
        <p14:creationId xmlns:p14="http://schemas.microsoft.com/office/powerpoint/2010/main" val="665400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D96713-82FD-DEAC-B70F-8ED760BF7FBC}"/>
              </a:ext>
            </a:extLst>
          </p:cNvPr>
          <p:cNvPicPr>
            <a:picLocks noChangeAspect="1"/>
          </p:cNvPicPr>
          <p:nvPr/>
        </p:nvPicPr>
        <p:blipFill>
          <a:blip r:embed="rId2"/>
          <a:stretch>
            <a:fillRect/>
          </a:stretch>
        </p:blipFill>
        <p:spPr>
          <a:xfrm>
            <a:off x="219741" y="1087480"/>
            <a:ext cx="4053484" cy="3083828"/>
          </a:xfrm>
          <a:prstGeom prst="rect">
            <a:avLst/>
          </a:prstGeom>
        </p:spPr>
      </p:pic>
      <p:pic>
        <p:nvPicPr>
          <p:cNvPr id="5" name="Picture 4">
            <a:extLst>
              <a:ext uri="{FF2B5EF4-FFF2-40B4-BE49-F238E27FC236}">
                <a16:creationId xmlns:a16="http://schemas.microsoft.com/office/drawing/2014/main" id="{BD34CA22-6907-906A-4BCE-8EF24FEC98CC}"/>
              </a:ext>
            </a:extLst>
          </p:cNvPr>
          <p:cNvPicPr>
            <a:picLocks noChangeAspect="1"/>
          </p:cNvPicPr>
          <p:nvPr/>
        </p:nvPicPr>
        <p:blipFill>
          <a:blip r:embed="rId3"/>
          <a:stretch>
            <a:fillRect/>
          </a:stretch>
        </p:blipFill>
        <p:spPr>
          <a:xfrm>
            <a:off x="4456707" y="3532677"/>
            <a:ext cx="4467552" cy="2590593"/>
          </a:xfrm>
          <a:prstGeom prst="rect">
            <a:avLst/>
          </a:prstGeom>
        </p:spPr>
      </p:pic>
    </p:spTree>
    <p:extLst>
      <p:ext uri="{BB962C8B-B14F-4D97-AF65-F5344CB8AC3E}">
        <p14:creationId xmlns:p14="http://schemas.microsoft.com/office/powerpoint/2010/main" val="3126227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34F2-E4BF-B881-EC3D-903E038AADD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24F1F96-FA53-9FE2-B3D7-876B78B4AF43}"/>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Results and Discussion</a:t>
            </a:r>
          </a:p>
        </p:txBody>
      </p:sp>
      <p:sp>
        <p:nvSpPr>
          <p:cNvPr id="110" name="TextShape 3">
            <a:extLst>
              <a:ext uri="{FF2B5EF4-FFF2-40B4-BE49-F238E27FC236}">
                <a16:creationId xmlns:a16="http://schemas.microsoft.com/office/drawing/2014/main" id="{EA67512F-D473-54F7-C622-FF3A3044003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
        <p:nvSpPr>
          <p:cNvPr id="5" name="TextShape 2">
            <a:extLst>
              <a:ext uri="{FF2B5EF4-FFF2-40B4-BE49-F238E27FC236}">
                <a16:creationId xmlns:a16="http://schemas.microsoft.com/office/drawing/2014/main" id="{519FAE85-B1BA-3D01-3B7D-D0E0504DD7D5}"/>
              </a:ext>
            </a:extLst>
          </p:cNvPr>
          <p:cNvSpPr txBox="1"/>
          <p:nvPr/>
        </p:nvSpPr>
        <p:spPr>
          <a:xfrm>
            <a:off x="164008" y="1109742"/>
            <a:ext cx="8903792" cy="4838571"/>
          </a:xfrm>
          <a:prstGeom prst="rect">
            <a:avLst/>
          </a:prstGeom>
          <a:noFill/>
          <a:ln w="9360">
            <a:noFill/>
          </a:ln>
        </p:spPr>
        <p:txBody>
          <a:bodyPr>
            <a:noAutofit/>
          </a:bodyPr>
          <a:lstStyle/>
          <a:p>
            <a:r>
              <a:rPr lang="en-IN" dirty="0"/>
              <a:t>The primary objective of this study was to develop and evaluate a highly accurate </a:t>
            </a:r>
            <a:r>
              <a:rPr lang="en-IN" dirty="0" err="1"/>
              <a:t>RandomForest</a:t>
            </a:r>
            <a:r>
              <a:rPr lang="en-IN" dirty="0"/>
              <a:t>-based phishing URL detection system. Extensive experimentation and validation were conducted using extracted URL and domain features to assess the effectiveness of the proposed model. The developed classifier achieved an impressive accuracy of **97.31%** in distinguishing phishing websites from legitimate websites, demonstrating the robustness and reliability of the proposed approach.</a:t>
            </a:r>
          </a:p>
          <a:p>
            <a:r>
              <a:rPr lang="en-IN" dirty="0"/>
              <a:t> </a:t>
            </a:r>
          </a:p>
          <a:p>
            <a:r>
              <a:rPr lang="en-IN" dirty="0"/>
              <a:t>The </a:t>
            </a:r>
            <a:r>
              <a:rPr lang="en-IN" dirty="0" err="1"/>
              <a:t>RandomForest</a:t>
            </a:r>
            <a:r>
              <a:rPr lang="en-IN" dirty="0"/>
              <a:t> model was trained using a comprehensive set of features extracted from URLs, including domain age, HTTPS usage, URL length, abnormal redirects, SSL certificate validity, and several webpage security indicators. The ensemble architecture of </a:t>
            </a:r>
            <a:r>
              <a:rPr lang="en-IN" dirty="0" err="1"/>
              <a:t>RandomForest</a:t>
            </a:r>
            <a:r>
              <a:rPr lang="en-IN" dirty="0"/>
              <a:t>, which combines predictions from multiple decision trees, significantly contributed to its ability to handle the complex and high-dimensional feature space associated with phishing detection.</a:t>
            </a:r>
          </a:p>
          <a:p>
            <a:endParaRPr lang="en-IN" dirty="0"/>
          </a:p>
        </p:txBody>
      </p:sp>
    </p:spTree>
    <p:extLst>
      <p:ext uri="{BB962C8B-B14F-4D97-AF65-F5344CB8AC3E}">
        <p14:creationId xmlns:p14="http://schemas.microsoft.com/office/powerpoint/2010/main" val="4020964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4475-BB63-EC50-B933-2D50FCB033A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B685D43-2867-83AE-5356-9CEEDA3AE00E}"/>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Results and Discussion</a:t>
            </a:r>
          </a:p>
        </p:txBody>
      </p:sp>
      <p:sp>
        <p:nvSpPr>
          <p:cNvPr id="110" name="TextShape 3">
            <a:extLst>
              <a:ext uri="{FF2B5EF4-FFF2-40B4-BE49-F238E27FC236}">
                <a16:creationId xmlns:a16="http://schemas.microsoft.com/office/drawing/2014/main" id="{A4E9E874-AE96-DD90-12AA-0BAFE275602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17</a:t>
            </a:fld>
            <a:endParaRPr lang="en-GB" sz="1200" b="0" strike="noStrike" spc="-1">
              <a:latin typeface="Times New Roman"/>
            </a:endParaRPr>
          </a:p>
        </p:txBody>
      </p:sp>
      <p:sp>
        <p:nvSpPr>
          <p:cNvPr id="5" name="TextShape 2">
            <a:extLst>
              <a:ext uri="{FF2B5EF4-FFF2-40B4-BE49-F238E27FC236}">
                <a16:creationId xmlns:a16="http://schemas.microsoft.com/office/drawing/2014/main" id="{ABC08142-C040-E36A-CE3A-23345EA2E476}"/>
              </a:ext>
            </a:extLst>
          </p:cNvPr>
          <p:cNvSpPr txBox="1"/>
          <p:nvPr/>
        </p:nvSpPr>
        <p:spPr>
          <a:xfrm>
            <a:off x="164008" y="1109742"/>
            <a:ext cx="8903792" cy="4838571"/>
          </a:xfrm>
          <a:prstGeom prst="rect">
            <a:avLst/>
          </a:prstGeom>
          <a:noFill/>
          <a:ln w="9360">
            <a:noFill/>
          </a:ln>
        </p:spPr>
        <p:txBody>
          <a:bodyPr>
            <a:noAutofit/>
          </a:bodyPr>
          <a:lstStyle/>
          <a:p>
            <a:r>
              <a:rPr lang="en-IN" dirty="0"/>
              <a:t>Achieving an accuracy of 97.31% indicates that the proposed classifier correctly identified phishing URLs in the vast majority of cases. This level of performance is particularly important because phishing attacks continuously evolve, with attackers adopting new strategies to bypass traditional security mechanisms. The strong detection capability of the </a:t>
            </a:r>
            <a:r>
              <a:rPr lang="en-IN" dirty="0" err="1"/>
              <a:t>RandomForest</a:t>
            </a:r>
            <a:r>
              <a:rPr lang="en-IN" dirty="0"/>
              <a:t> classifier enhances online security and reduces the likelihood of users falling victim to malicious websites.</a:t>
            </a:r>
          </a:p>
          <a:p>
            <a:r>
              <a:rPr lang="en-IN" dirty="0"/>
              <a:t> </a:t>
            </a:r>
          </a:p>
          <a:p>
            <a:r>
              <a:rPr lang="en-IN" dirty="0"/>
              <a:t>Despite the high accuracy achieved, certain limitations were observed during implementation. Feature extraction from URLs can sometimes be computationally intensive and time-consuming. In some situations, the system may fail to retrieve all required webpage attributes or domain information due to network restrictions or inaccessible webpages. Such limitations can affect the overall classification performance and processing efficiency. These challenges highlight the need for future improvements in feature extraction optimization and real-time processing techniques.</a:t>
            </a:r>
          </a:p>
        </p:txBody>
      </p:sp>
    </p:spTree>
    <p:extLst>
      <p:ext uri="{BB962C8B-B14F-4D97-AF65-F5344CB8AC3E}">
        <p14:creationId xmlns:p14="http://schemas.microsoft.com/office/powerpoint/2010/main" val="2958413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FBCF-CEDF-01B5-72EC-F4A69D86442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3C24D90C-A7FE-33AF-2B28-5A999525EA40}"/>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Results and Discussion</a:t>
            </a:r>
          </a:p>
        </p:txBody>
      </p:sp>
      <p:sp>
        <p:nvSpPr>
          <p:cNvPr id="110" name="TextShape 3">
            <a:extLst>
              <a:ext uri="{FF2B5EF4-FFF2-40B4-BE49-F238E27FC236}">
                <a16:creationId xmlns:a16="http://schemas.microsoft.com/office/drawing/2014/main" id="{E837A4B5-F6EB-21A0-91CB-AE94E18E7DD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18</a:t>
            </a:fld>
            <a:endParaRPr lang="en-GB" sz="1200" b="0" strike="noStrike" spc="-1">
              <a:latin typeface="Times New Roman"/>
            </a:endParaRPr>
          </a:p>
        </p:txBody>
      </p:sp>
      <p:sp>
        <p:nvSpPr>
          <p:cNvPr id="5" name="TextShape 2">
            <a:extLst>
              <a:ext uri="{FF2B5EF4-FFF2-40B4-BE49-F238E27FC236}">
                <a16:creationId xmlns:a16="http://schemas.microsoft.com/office/drawing/2014/main" id="{C05514A7-8DEE-A742-29B2-DD7C4831D2C5}"/>
              </a:ext>
            </a:extLst>
          </p:cNvPr>
          <p:cNvSpPr txBox="1"/>
          <p:nvPr/>
        </p:nvSpPr>
        <p:spPr>
          <a:xfrm>
            <a:off x="164008" y="1109742"/>
            <a:ext cx="8903792" cy="4838571"/>
          </a:xfrm>
          <a:prstGeom prst="rect">
            <a:avLst/>
          </a:prstGeom>
          <a:noFill/>
          <a:ln w="9360">
            <a:noFill/>
          </a:ln>
        </p:spPr>
        <p:txBody>
          <a:bodyPr>
            <a:noAutofit/>
          </a:bodyPr>
          <a:lstStyle/>
          <a:p>
            <a:r>
              <a:rPr lang="en-IN" b="1" dirty="0"/>
              <a:t>RANDOM FOREST MODEL SPECS:</a:t>
            </a:r>
            <a:endParaRPr lang="en-IN" dirty="0"/>
          </a:p>
          <a:p>
            <a:r>
              <a:rPr lang="en-IN" dirty="0"/>
              <a:t> </a:t>
            </a:r>
          </a:p>
          <a:p>
            <a:pPr lvl="0"/>
            <a:r>
              <a:rPr lang="en-IN" dirty="0"/>
              <a:t>Accuracy of the model: 97.31789746464618%</a:t>
            </a:r>
          </a:p>
          <a:p>
            <a:pPr lvl="0"/>
            <a:r>
              <a:rPr lang="en-IN" dirty="0"/>
              <a:t>Best Accuracy: 0.9731789746464618</a:t>
            </a:r>
          </a:p>
          <a:p>
            <a:pPr lvl="0"/>
            <a:r>
              <a:rPr lang="en-IN" dirty="0"/>
              <a:t>Best Parameters:</a:t>
            </a:r>
          </a:p>
          <a:p>
            <a:r>
              <a:rPr lang="en-IN" dirty="0"/>
              <a:t>Criterion = entropy</a:t>
            </a:r>
          </a:p>
          <a:p>
            <a:r>
              <a:rPr lang="en-IN" dirty="0"/>
              <a:t>Max Features = log2</a:t>
            </a:r>
          </a:p>
          <a:p>
            <a:r>
              <a:rPr lang="en-IN" dirty="0"/>
              <a:t>Number of Estimators = 100</a:t>
            </a:r>
          </a:p>
          <a:p>
            <a:pPr lvl="0"/>
            <a:r>
              <a:rPr lang="en-IN" dirty="0"/>
              <a:t>Cross-validation Score:** 0.9693641373263504</a:t>
            </a:r>
          </a:p>
          <a:p>
            <a:r>
              <a:rPr lang="en-IN" dirty="0"/>
              <a:t> </a:t>
            </a:r>
          </a:p>
          <a:p>
            <a:r>
              <a:rPr lang="en-IN" b="1" dirty="0"/>
              <a:t>4.2 Confusion Matrix:</a:t>
            </a:r>
            <a:endParaRPr lang="en-IN" dirty="0"/>
          </a:p>
          <a:p>
            <a:r>
              <a:rPr lang="en-IN" dirty="0"/>
              <a:t> </a:t>
            </a:r>
          </a:p>
          <a:p>
            <a:r>
              <a:rPr lang="en-IN" dirty="0"/>
              <a:t>|                 | Predicted Positive | Predicted Negative |</a:t>
            </a:r>
          </a:p>
          <a:p>
            <a:r>
              <a:rPr lang="en-IN" dirty="0"/>
              <a:t>| --------------- | ------------------ | ------------------ |</a:t>
            </a:r>
          </a:p>
          <a:p>
            <a:r>
              <a:rPr lang="en-IN" dirty="0"/>
              <a:t>| Actual Positive | 1186               | 63                 |</a:t>
            </a:r>
          </a:p>
          <a:p>
            <a:r>
              <a:rPr lang="en-IN" dirty="0"/>
              <a:t>| Actual Negative | 26                 | 1489               |</a:t>
            </a:r>
          </a:p>
          <a:p>
            <a:r>
              <a:rPr lang="en-IN" dirty="0"/>
              <a:t> </a:t>
            </a:r>
          </a:p>
          <a:p>
            <a:r>
              <a:rPr lang="en-IN" dirty="0"/>
              <a:t>The confusion matrix further demonstrates the effectiveness of the classifier, showing a high number of correctly classified phishing and legitimate URLs while maintaining relatively low false positive and false negative rates.</a:t>
            </a:r>
          </a:p>
        </p:txBody>
      </p:sp>
    </p:spTree>
    <p:extLst>
      <p:ext uri="{BB962C8B-B14F-4D97-AF65-F5344CB8AC3E}">
        <p14:creationId xmlns:p14="http://schemas.microsoft.com/office/powerpoint/2010/main" val="1796745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2921-4510-D667-A738-A342F900C11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C12BDAC-A0E4-26DB-C0E6-16B427264C5D}"/>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110" name="TextShape 3">
            <a:extLst>
              <a:ext uri="{FF2B5EF4-FFF2-40B4-BE49-F238E27FC236}">
                <a16:creationId xmlns:a16="http://schemas.microsoft.com/office/drawing/2014/main" id="{FB9D13BE-3355-82F8-FD2B-40B16AAC677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19</a:t>
            </a:fld>
            <a:endParaRPr lang="en-GB" sz="1200" b="0" strike="noStrike" spc="-1">
              <a:latin typeface="Times New Roman"/>
            </a:endParaRPr>
          </a:p>
        </p:txBody>
      </p:sp>
      <p:sp>
        <p:nvSpPr>
          <p:cNvPr id="5" name="TextShape 2">
            <a:extLst>
              <a:ext uri="{FF2B5EF4-FFF2-40B4-BE49-F238E27FC236}">
                <a16:creationId xmlns:a16="http://schemas.microsoft.com/office/drawing/2014/main" id="{76247A4F-0A9C-C96D-2300-7E31EE1719F2}"/>
              </a:ext>
            </a:extLst>
          </p:cNvPr>
          <p:cNvSpPr txBox="1"/>
          <p:nvPr/>
        </p:nvSpPr>
        <p:spPr>
          <a:xfrm>
            <a:off x="164008" y="1109742"/>
            <a:ext cx="8903792" cy="4838571"/>
          </a:xfrm>
          <a:prstGeom prst="rect">
            <a:avLst/>
          </a:prstGeom>
          <a:noFill/>
          <a:ln w="9360">
            <a:noFill/>
          </a:ln>
        </p:spPr>
        <p:txBody>
          <a:bodyPr>
            <a:noAutofit/>
          </a:bodyPr>
          <a:lstStyle/>
          <a:p>
            <a:r>
              <a:rPr lang="en-IN" dirty="0"/>
              <a:t>Phishing attacks continue to pose significant threats in the modern digital ecosystem by exploiting human trust and technological vulnerabilities to steal sensitive information. This report examined various forms of phishing attacks, including email phishing, spear phishing, smishing, and vishing, emphasizing their sophisticated methodologies and harmful impacts on individuals and organizations.</a:t>
            </a:r>
          </a:p>
          <a:p>
            <a:r>
              <a:rPr lang="en-IN" dirty="0"/>
              <a:t> </a:t>
            </a:r>
          </a:p>
          <a:p>
            <a:r>
              <a:rPr lang="en-IN" dirty="0"/>
              <a:t>The project successfully developed and evaluated a </a:t>
            </a:r>
            <a:r>
              <a:rPr lang="en-IN" dirty="0" err="1"/>
              <a:t>RandomForest</a:t>
            </a:r>
            <a:r>
              <a:rPr lang="en-IN" dirty="0"/>
              <a:t>-based phishing URL detection system capable of accurately identifying malicious websites. By leveraging advanced machine learning techniques and comprehensive feature extraction methods, the system achieved a high detection accuracy of 97.31%. The model effectively </a:t>
            </a:r>
            <a:r>
              <a:rPr lang="en-IN" dirty="0" err="1"/>
              <a:t>analyzed</a:t>
            </a:r>
            <a:r>
              <a:rPr lang="en-IN" dirty="0"/>
              <a:t> URL structures, domain properties, HTTPS usage, security indicators, and webpage </a:t>
            </a:r>
            <a:r>
              <a:rPr lang="en-IN" dirty="0" err="1"/>
              <a:t>behaviors</a:t>
            </a:r>
            <a:r>
              <a:rPr lang="en-IN" dirty="0"/>
              <a:t> to distinguish legitimate websites from phishing websites.</a:t>
            </a:r>
          </a:p>
        </p:txBody>
      </p:sp>
    </p:spTree>
    <p:extLst>
      <p:ext uri="{BB962C8B-B14F-4D97-AF65-F5344CB8AC3E}">
        <p14:creationId xmlns:p14="http://schemas.microsoft.com/office/powerpoint/2010/main" val="306370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C90FC-67C7-FD4A-6B6B-5A9CA6412CA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D888404-19BD-7937-CE53-784912E61F93}"/>
              </a:ext>
            </a:extLst>
          </p:cNvPr>
          <p:cNvSpPr txBox="1"/>
          <p:nvPr/>
        </p:nvSpPr>
        <p:spPr>
          <a:xfrm>
            <a:off x="457200" y="0"/>
            <a:ext cx="6019560" cy="837720"/>
          </a:xfrm>
          <a:prstGeom prst="rect">
            <a:avLst/>
          </a:prstGeom>
          <a:noFill/>
          <a:ln w="9360">
            <a:noFill/>
          </a:ln>
        </p:spPr>
        <p:txBody>
          <a:bodyPr anchor="ctr">
            <a:noAutofit/>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110" name="TextShape 3">
            <a:extLst>
              <a:ext uri="{FF2B5EF4-FFF2-40B4-BE49-F238E27FC236}">
                <a16:creationId xmlns:a16="http://schemas.microsoft.com/office/drawing/2014/main" id="{4DE5BB7A-E464-BD1E-AFC7-0DC0F241805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20</a:t>
            </a:fld>
            <a:endParaRPr lang="en-GB" sz="1200" b="0" strike="noStrike" spc="-1">
              <a:latin typeface="Times New Roman"/>
            </a:endParaRPr>
          </a:p>
        </p:txBody>
      </p:sp>
      <p:sp>
        <p:nvSpPr>
          <p:cNvPr id="5" name="TextShape 2">
            <a:extLst>
              <a:ext uri="{FF2B5EF4-FFF2-40B4-BE49-F238E27FC236}">
                <a16:creationId xmlns:a16="http://schemas.microsoft.com/office/drawing/2014/main" id="{7317AACB-AA10-10F6-7678-B02CDB27C16E}"/>
              </a:ext>
            </a:extLst>
          </p:cNvPr>
          <p:cNvSpPr txBox="1"/>
          <p:nvPr/>
        </p:nvSpPr>
        <p:spPr>
          <a:xfrm>
            <a:off x="164008" y="1109742"/>
            <a:ext cx="8903792" cy="4838571"/>
          </a:xfrm>
          <a:prstGeom prst="rect">
            <a:avLst/>
          </a:prstGeom>
          <a:noFill/>
          <a:ln w="9360">
            <a:noFill/>
          </a:ln>
        </p:spPr>
        <p:txBody>
          <a:bodyPr>
            <a:noAutofit/>
          </a:bodyPr>
          <a:lstStyle/>
          <a:p>
            <a:r>
              <a:rPr lang="en-IN" dirty="0"/>
              <a:t>The strong performance of the </a:t>
            </a:r>
            <a:r>
              <a:rPr lang="en-IN" dirty="0" err="1"/>
              <a:t>RandomForest</a:t>
            </a:r>
            <a:r>
              <a:rPr lang="en-IN" dirty="0"/>
              <a:t> classifier demonstrates the importance of machine learning in strengthening cybersecurity systems. The ensemble learning capabilities of </a:t>
            </a:r>
            <a:r>
              <a:rPr lang="en-IN" dirty="0" err="1"/>
              <a:t>RandomForest</a:t>
            </a:r>
            <a:r>
              <a:rPr lang="en-IN" dirty="0"/>
              <a:t> contributed significantly to improving classification accuracy, reducing overfitting, and enhancing model reliability against evolving phishing strategies.</a:t>
            </a:r>
          </a:p>
          <a:p>
            <a:r>
              <a:rPr lang="en-IN" dirty="0"/>
              <a:t> </a:t>
            </a:r>
          </a:p>
          <a:p>
            <a:r>
              <a:rPr lang="en-IN" dirty="0"/>
              <a:t>However, technological solutions alone are not sufficient to completely eliminate phishing threats. User awareness and cybersecurity education remain equally important components of an effective </a:t>
            </a:r>
            <a:r>
              <a:rPr lang="en-IN" dirty="0" err="1"/>
              <a:t>defense</a:t>
            </a:r>
            <a:r>
              <a:rPr lang="en-IN" dirty="0"/>
              <a:t> strategy. Educating users about phishing indicators, suspicious URLs, fake communications, and safe online practices can substantially reduce the success rate of phishing attacks.</a:t>
            </a:r>
          </a:p>
          <a:p>
            <a:r>
              <a:rPr lang="en-IN" dirty="0"/>
              <a:t> </a:t>
            </a:r>
          </a:p>
          <a:p>
            <a:r>
              <a:rPr lang="en-IN" dirty="0"/>
              <a:t>Looking toward the future, continuous research and innovation are necessary to combat increasingly advanced phishing techniques. Future improvements may involve integrating real-time threat intelligence systems, advanced feature engineering methods, deep learning architectures, browser security extensions, and cloud-based phishing detection services. Collaboration among researchers, cybersecurity professionals, organizations, and users will play a vital role in enhancing digital trust and minimizing the impact of phishing attacks worldwide.</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r>
              <a:rPr lang="en-IN" dirty="0"/>
              <a:t> </a:t>
            </a:r>
          </a:p>
          <a:p>
            <a:endParaRPr lang="en-IN" dirty="0"/>
          </a:p>
        </p:txBody>
      </p:sp>
    </p:spTree>
    <p:extLst>
      <p:ext uri="{BB962C8B-B14F-4D97-AF65-F5344CB8AC3E}">
        <p14:creationId xmlns:p14="http://schemas.microsoft.com/office/powerpoint/2010/main" val="1664362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34723</TotalTime>
  <Words>2564</Words>
  <Application>Microsoft Office PowerPoint</Application>
  <PresentationFormat>On-screen Show (4:3)</PresentationFormat>
  <Paragraphs>197</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Tanishpreet Kaur</cp:lastModifiedBy>
  <cp:revision>2305</cp:revision>
  <dcterms:created xsi:type="dcterms:W3CDTF">2010-04-09T07:36:15Z</dcterms:created>
  <dcterms:modified xsi:type="dcterms:W3CDTF">2026-05-20T04:04:39Z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